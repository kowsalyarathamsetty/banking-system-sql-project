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9728" cy="4389120"/>
          </a:xfrm>
          <a:prstGeom prst="rect">
            <a:avLst/>
          </a:prstGeom>
          <a:solidFill>
            <a:srgbClr val="37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BANKING SYSTEM</a:t>
            </a:r>
          </a:p>
          <a:p>
            <a:pPr>
              <a:defRPr sz="2400">
                <a:solidFill>
                  <a:srgbClr val="CDE1F0"/>
                </a:solidFill>
              </a:defRPr>
            </a:pPr>
            <a:r>
              <a:t>Database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70332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Customer • Accounts • Transactions • Loans • Employees • Branches</a:t>
            </a:r>
          </a:p>
          <a:p>
            <a:pPr>
              <a:defRPr sz="1600">
                <a:solidFill>
                  <a:srgbClr val="BED2E1"/>
                </a:solidFill>
              </a:defRPr>
            </a:pPr>
            <a:r>
              <a:t>SQL Database Design &amp; Query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1. Banking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The banking system is a database management system designed to manage bank operations like customer details, account management, and transactions securely and efficiently.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Modules included in the system: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37560" cy="749808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657600"/>
            <a:ext cx="3337560" cy="749808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657600"/>
            <a:ext cx="3337560" cy="749808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Loans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09160"/>
            <a:ext cx="3337560" cy="749808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Branches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709160"/>
            <a:ext cx="3337560" cy="749808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709160"/>
            <a:ext cx="3337560" cy="749808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2. Database &amp; Core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</a:defRPr>
            </a:pPr>
            <a:r>
              <a:t>Database creation, branches and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  <a:latin typeface="Consolas"/>
              </a:defRPr>
            </a:pPr>
            <a:r>
              <a:t>CREATE DATABASE IF NOT EXISTS banking_system;</a:t>
            </a:r>
            <a:br/>
            <a:r>
              <a:t>USE banking_system;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53035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715768"/>
            <a:ext cx="497433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Consolas"/>
              </a:defRPr>
            </a:pPr>
            <a:r>
              <a:t>CREATE TABLE BRANCHES (</a:t>
            </a:r>
            <a:br/>
            <a:r>
              <a:t> branch_id INT PRIMARY KEY,</a:t>
            </a:r>
            <a:br/>
            <a:r>
              <a:t> branch_name VARCHAR(50),</a:t>
            </a:r>
            <a:br/>
            <a:r>
              <a:t> location VARCHAR(50)</a:t>
            </a:r>
            <a:br/>
            <a: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44168"/>
            <a:ext cx="497433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Consolas"/>
              </a:defRPr>
            </a:pPr>
            <a:r>
              <a:t>CREATE TABLE CUSTOMERS (</a:t>
            </a:r>
            <a:br/>
            <a:r>
              <a:t> customer_id INT PRIMARY KEY,</a:t>
            </a:r>
            <a:br/>
            <a:r>
              <a:t> name VARCHAR(50), phone VARCHAR(15),</a:t>
            </a:r>
            <a:br/>
            <a:r>
              <a:t> city VARCHAR(50), email VARCHAR(100), dob DATE</a:t>
            </a:r>
            <a:br/>
            <a:r>
              <a:t>);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352044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Branch ID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Branch Name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Guntur Branch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Vijayawada Branch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Vijayawada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Hyderabad Branch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3.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</a:defRPr>
            </a:pPr>
            <a:r>
              <a:t>Tables and foreign-key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822960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EMPLOYEES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employee_id PK • name • designation • salary • branch_id FK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10561320" cy="822960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ACCOUNTS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account_id PK • customer_id FK • branch_id FK • type • 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10561320" cy="822960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TRANSACTIONS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transaction_id PK • account_id FK • transaction_type • amount • transaction_date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10561320" cy="822960"/>
          </a:xfrm>
          <a:prstGeom prst="roundRect">
            <a:avLst/>
          </a:prstGeom>
          <a:solidFill>
            <a:srgbClr val="F1F6FA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B46"/>
                </a:solidFill>
              </a:defRPr>
            </a:pPr>
            <a:r>
              <a:t>LOANS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loan_id PK • customer_id FK • loan_type • amount • interest_rate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4.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</a:defRPr>
            </a:pPr>
            <a:r>
              <a:t>Records inserted into the banking 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91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DOB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Rahul Kumar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9876543210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rahul@gmail.com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1999-05-15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Priya Sharma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9123456789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Vijayawada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priya@gmail.com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2000-08-20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Arjun Reddy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9988776655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arjun@gmail.com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1997-03-10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Sneha Patel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9876512345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sneha@gmail.com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2001-11-25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Vikram Singh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9123409876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Vizag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vikram@gmail.com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1996-12-05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16052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04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Account ID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Customer ID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Balance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75000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40000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90000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30000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60000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4160520"/>
          <a:ext cx="3749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59"/>
                <a:gridCol w="937259"/>
                <a:gridCol w="937259"/>
                <a:gridCol w="937262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Loan ID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Customer ID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Loan Type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Amount / Interest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Home Loan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500000 / 7.5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Car Loan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300000 / 8.2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Personal Loan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100000 / 11.0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5. Basic 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</a:defRPr>
            </a:pPr>
            <a:r>
              <a:t>Selection, filtering and sorting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864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515721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Consolas"/>
              </a:defRPr>
            </a:pPr>
            <a:r>
              <a:t>SELECT * FROM CUSTOMERS;</a:t>
            </a:r>
            <a:br/>
            <a:br/>
            <a:r>
              <a:t>SELECT name, phone, email FROM CUSTOMERS;</a:t>
            </a:r>
            <a:br/>
            <a:br/>
            <a:r>
              <a:t>SELECT * FROM CUSTOMERS WHERE city = 'Hyderabad';</a:t>
            </a:r>
            <a:br/>
            <a:br/>
            <a:r>
              <a:t>SELECT * FROM ACCOUNTS WHERE type = 'Savings';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506577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Consolas"/>
              </a:defRPr>
            </a:pPr>
            <a:r>
              <a:t>SELECT * FROM ACCOUNTS WHERE balance &gt; 50000;</a:t>
            </a:r>
            <a:br/>
            <a:br/>
            <a:r>
              <a:t>SELECT * FROM TRANSACTIONS WHERE transaction_type = 'credit';</a:t>
            </a:r>
            <a:br/>
            <a:br/>
            <a:r>
              <a:t>SELECT * FROM EMPLOYEES WHERE salary &gt; 40000;</a:t>
            </a:r>
            <a:br/>
            <a:br/>
            <a:r>
              <a:t>SELECT * FROM CUSTOMERS WHERE dob &gt; '1998-01-01';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6. Aggregate, GROUP BY &amp; ORDER BY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515721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Consolas"/>
              </a:defRPr>
            </a:pPr>
            <a:r>
              <a:t>SELECT * FROM ACCOUNTS ORDER BY balance DESC;</a:t>
            </a:r>
            <a:br/>
            <a:br/>
            <a:r>
              <a:t>SELECT COUNT(*) AS total_customers FROM CUSTOMERS;</a:t>
            </a:r>
            <a:br/>
            <a:r>
              <a:t>-- Output: 5</a:t>
            </a:r>
            <a:br/>
            <a:br/>
            <a:r>
              <a:t>SELECT SUM(balance) AS total_balance FROM ACCOUNTS;</a:t>
            </a:r>
            <a:br/>
            <a:r>
              <a:t>-- Output: 295000.00</a:t>
            </a:r>
            <a:br/>
            <a:br/>
            <a:r>
              <a:t>SELECT AVG(balance) AS average_balance FROM ACCOUNTS;</a:t>
            </a:r>
            <a:br/>
            <a:r>
              <a:t>-- Output: 59000.000000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035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344168"/>
            <a:ext cx="497433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D37"/>
                </a:solidFill>
                <a:latin typeface="Consolas"/>
              </a:defRPr>
            </a:pPr>
            <a:r>
              <a:t>SELECT MAX(balance) AS highest_balance,</a:t>
            </a:r>
            <a:br/>
            <a:r>
              <a:t>       MIN(balance) AS lowest_balance</a:t>
            </a:r>
            <a:br/>
            <a:r>
              <a:t>FROM ACCOUNTS;</a:t>
            </a:r>
            <a:br/>
            <a:r>
              <a:t>-- Output: 90000.00 / 30000.00</a:t>
            </a:r>
            <a:br/>
            <a:br/>
            <a:r>
              <a:t>SELECT type, COUNT(*) AS number_of_accounts</a:t>
            </a:r>
            <a:br/>
            <a:r>
              <a:t>FROM ACCOUNTS GROUP BY type;</a:t>
            </a:r>
            <a:br/>
            <a:br/>
            <a:r>
              <a:t>SELECT type, SUM(balance) AS total_balance</a:t>
            </a:r>
            <a:br/>
            <a:r>
              <a:t>FROM ACCOUNTS GROUP BY type</a:t>
            </a:r>
            <a:br/>
            <a:r>
              <a:t>HAVING SUM(balance) &gt; 80000;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7. JOIN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</a:defRPr>
            </a:pPr>
            <a:r>
              <a:t>Combining related data across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406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51114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D37"/>
                </a:solidFill>
                <a:latin typeface="Consolas"/>
              </a:defRPr>
            </a:pPr>
            <a:r>
              <a:t>Customers + Accounts</a:t>
            </a:r>
            <a:br/>
            <a:r>
              <a:t>SELECT C.name, A.account_id, A.type, A.balance</a:t>
            </a:r>
            <a:br/>
            <a:r>
              <a:t>FROM CUSTOMERS C JOIN ACCOUNTS A</a:t>
            </a:r>
            <a:br/>
            <a:r>
              <a:t>ON C.customer_id = A.customer_id;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4406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344168"/>
            <a:ext cx="51114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D37"/>
                </a:solidFill>
                <a:latin typeface="Consolas"/>
              </a:defRPr>
            </a:pPr>
            <a:r>
              <a:t>Customers + Accounts + Transactions</a:t>
            </a:r>
            <a:br/>
            <a:r>
              <a:t>SELECT C.name, T.transaction_id, T.amount, T.transaction_type</a:t>
            </a:r>
            <a:br/>
            <a:r>
              <a:t>FROM CUSTOMERS C JOIN ACCOUNTS A</a:t>
            </a:r>
            <a:br/>
            <a:r>
              <a:t>ON C.customer_id = A.customer_id</a:t>
            </a:r>
            <a:br/>
            <a:r>
              <a:t>JOIN TRANSACTIONS T ON A.account_id = T.account_id;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49039"/>
            <a:ext cx="54406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858768"/>
            <a:ext cx="51114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D37"/>
                </a:solidFill>
                <a:latin typeface="Consolas"/>
              </a:defRPr>
            </a:pPr>
            <a:r>
              <a:t>Customers + Loans</a:t>
            </a:r>
            <a:br/>
            <a:r>
              <a:t>SELECT C.name, L.loan_type, L.amount, L.interest_rate</a:t>
            </a:r>
            <a:br/>
            <a:r>
              <a:t>FROM CUSTOMERS C JOIN LOANS L</a:t>
            </a:r>
            <a:br/>
            <a:r>
              <a:t>ON C.customer_id = L.customer_id;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49039"/>
            <a:ext cx="54406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3858768"/>
            <a:ext cx="511149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32D37"/>
                </a:solidFill>
                <a:latin typeface="Consolas"/>
              </a:defRPr>
            </a:pPr>
            <a:r>
              <a:t>Employees + Branches</a:t>
            </a:r>
            <a:br/>
            <a:r>
              <a:t>SELECT E.name, E.designation, B.branch_name, B.location</a:t>
            </a:r>
            <a:br/>
            <a:r>
              <a:t>FROM EMPLOYEES E JOIN BRANCHES B</a:t>
            </a:r>
            <a:br/>
            <a:r>
              <a:t>ON E.branch_id = B.branch_id;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46"/>
                </a:solidFill>
              </a:defRPr>
            </a:pPr>
            <a:r>
              <a:t>8. Final Query &amp; Key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</a:defRPr>
            </a:pPr>
            <a:r>
              <a:t>Subquery using average account balance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40080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35607"/>
            <a:ext cx="607161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  <a:latin typeface="Consolas"/>
              </a:defRPr>
            </a:pPr>
            <a:r>
              <a:t>SELECT C.name, A.balance</a:t>
            </a:r>
            <a:br/>
            <a:r>
              <a:t>FROM CUSTOMERS C JOIN ACCOUNTS A</a:t>
            </a:r>
            <a:br/>
            <a:r>
              <a:t>ON C.customer_id = A.customer_id</a:t>
            </a:r>
            <a:br/>
            <a:r>
              <a:t>WHERE A.balance &gt; (SELECT AVG(balance) FROM ACCOUNTS);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325880"/>
          <a:ext cx="3657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Balance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7"/>
                          </a:solidFill>
                        </a:defRPr>
                      </a:pPr>
                      <a:r>
                        <a:t>Rahul Kumar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7"/>
                          </a:solidFill>
                        </a:defRPr>
                      </a:pPr>
                      <a:r>
                        <a:t>75000.00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7"/>
                          </a:solidFill>
                        </a:defRPr>
                      </a:pPr>
                      <a:r>
                        <a:t>Arjun Reddy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7"/>
                          </a:solidFill>
                        </a:defRPr>
                      </a:pPr>
                      <a:r>
                        <a:t>90000.00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7"/>
                          </a:solidFill>
                        </a:defRPr>
                      </a:pPr>
                      <a:r>
                        <a:t>Vikram Singh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7"/>
                          </a:solidFill>
                        </a:defRPr>
                      </a:pPr>
                      <a:r>
                        <a:t>60000.00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8862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22B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Total customers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Total balance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295000.00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Average balance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59000.000000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Highest / Lowest balance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7"/>
                          </a:solidFill>
                        </a:defRPr>
                      </a:pPr>
                      <a:r>
                        <a:t>90000.00 / 30000.00</a:t>
                      </a:r>
                    </a:p>
                  </a:txBody>
                  <a:tcPr marL="73152" marR="73152" marT="36576" marB="36576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3977639"/>
            <a:ext cx="3566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2B46"/>
                </a:solidFill>
              </a:defRPr>
            </a:pPr>
            <a:r>
              <a:t>System Coverage</a:t>
            </a:r>
          </a:p>
          <a:p>
            <a:pPr>
              <a:spcAft>
                <a:spcPts val="400"/>
              </a:spcAft>
              <a:defRPr sz="1400">
                <a:solidFill>
                  <a:srgbClr val="232D37"/>
                </a:solidFill>
              </a:defRPr>
            </a:pPr>
            <a:r>
              <a:t>20 SQL queries</a:t>
            </a:r>
          </a:p>
          <a:p>
            <a:pPr>
              <a:spcAft>
                <a:spcPts val="400"/>
              </a:spcAft>
              <a:defRPr sz="1400">
                <a:solidFill>
                  <a:srgbClr val="232D37"/>
                </a:solidFill>
              </a:defRPr>
            </a:pPr>
            <a:r>
              <a:t>Filtering &amp; sorting</a:t>
            </a:r>
          </a:p>
          <a:p>
            <a:pPr>
              <a:spcAft>
                <a:spcPts val="400"/>
              </a:spcAft>
              <a:defRPr sz="1400">
                <a:solidFill>
                  <a:srgbClr val="232D37"/>
                </a:solidFill>
              </a:defRPr>
            </a:pPr>
            <a:r>
              <a:t>Aggregate functions</a:t>
            </a:r>
          </a:p>
          <a:p>
            <a:pPr>
              <a:spcAft>
                <a:spcPts val="400"/>
              </a:spcAft>
              <a:defRPr sz="1400">
                <a:solidFill>
                  <a:srgbClr val="232D37"/>
                </a:solidFill>
              </a:defRPr>
            </a:pPr>
            <a:r>
              <a:t>GROUP BY &amp; HAVING</a:t>
            </a:r>
          </a:p>
          <a:p>
            <a:pPr>
              <a:spcAft>
                <a:spcPts val="400"/>
              </a:spcAft>
              <a:defRPr sz="1400">
                <a:solidFill>
                  <a:srgbClr val="232D37"/>
                </a:solidFill>
              </a:defRPr>
            </a:pPr>
            <a:r>
              <a:t>Multi-table JOINs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